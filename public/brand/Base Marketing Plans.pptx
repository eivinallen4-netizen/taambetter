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2lD0e21cKYdUYHVAh9zuYvBr3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C761B4-0E33-4C2B-ADEE-64BA2F20D7FC}">
  <a:tblStyle styleId="{E7C761B4-0E33-4C2B-ADEE-64BA2F20D7F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customschemas.google.com/relationships/presentationmetadata" Target="meta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b04a6d2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5b04a6d2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5b04a6d2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632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F7B4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194560" y="4663440"/>
            <a:ext cx="5029200" cy="5029200"/>
          </a:xfrm>
          <a:prstGeom prst="ellipse">
            <a:avLst/>
          </a:prstGeom>
          <a:solidFill>
            <a:srgbClr val="FF7B42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white_transparent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888" y="960120"/>
            <a:ext cx="2560320" cy="10122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Video Marketing Plans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645920" y="3703320"/>
            <a:ext cx="889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Fully done-for-you: our team films, edits, and delivers your content.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645920" y="4160520"/>
            <a:ext cx="889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C2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D5C2"/>
                </a:solidFill>
                <a:latin typeface="Montserrat"/>
                <a:ea typeface="Montserrat"/>
                <a:cs typeface="Montserrat"/>
                <a:sym typeface="Montserrat"/>
              </a:rPr>
              <a:t>You show up —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handle the rest.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C2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D5C2"/>
                </a:solidFill>
                <a:latin typeface="Montserrat"/>
                <a:ea typeface="Montserrat"/>
                <a:cs typeface="Montserrat"/>
                <a:sym typeface="Montserrat"/>
              </a:rPr>
              <a:t>Pricing &amp; Plan Guide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orange_transparent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292608"/>
            <a:ext cx="914400" cy="3611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Choose Your Plan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All prices are per 4-week cycle. Every plan is filmed, edited, and delivered by our team.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600200"/>
            <a:ext cx="3520440" cy="4800600"/>
          </a:xfrm>
          <a:prstGeom prst="roundRect">
            <a:avLst>
              <a:gd fmla="val 3117" name="adj"/>
            </a:avLst>
          </a:prstGeom>
          <a:solidFill>
            <a:srgbClr val="F2F2F2"/>
          </a:solidFill>
          <a:ln>
            <a:noFill/>
          </a:ln>
          <a:effectLst>
            <a:outerShdw blurRad="101600" rotWithShape="0" algn="bl" dir="5400000" dist="254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91440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6325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46325"/>
                </a:solidFill>
                <a:latin typeface="Montserrat"/>
                <a:ea typeface="Montserrat"/>
                <a:cs typeface="Montserrat"/>
                <a:sym typeface="Montserrat"/>
              </a:rPr>
              <a:t>STARTER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228600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$900</a:t>
            </a:r>
            <a:r>
              <a:rPr b="0" i="0" lang="en-US" sz="13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 / cycle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97180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"/>
              <a:buFont typeface="Montserrat"/>
              <a:buNone/>
            </a:pPr>
            <a:r>
              <a:rPr b="0" i="1" lang="en-US" sz="125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Testing consistent short-form video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3566160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10 short-form videos per cycle (TikTok, Reels, YouTube Shorts)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1 filming day per cycle at your location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Content scripting &amp; idea support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425696" y="1600200"/>
            <a:ext cx="3520440" cy="4800600"/>
          </a:xfrm>
          <a:prstGeom prst="roundRect">
            <a:avLst>
              <a:gd fmla="val 3117" name="adj"/>
            </a:avLst>
          </a:prstGeom>
          <a:solidFill>
            <a:srgbClr val="F46325"/>
          </a:solidFill>
          <a:ln>
            <a:noFill/>
          </a:ln>
          <a:effectLst>
            <a:outerShdw blurRad="101600" rotWithShape="0" algn="bl" dir="5400000" dist="25400">
              <a:srgbClr val="AAAAAA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08676" y="1444752"/>
            <a:ext cx="1554480" cy="329184"/>
          </a:xfrm>
          <a:prstGeom prst="roundRect">
            <a:avLst>
              <a:gd fmla="val 50000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08676" y="144475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 POPULAR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00016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C2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D5C2"/>
                </a:solidFill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0016" y="228600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$1,500</a:t>
            </a:r>
            <a:r>
              <a:rPr b="0" i="0" lang="en-US" sz="1300" u="none" cap="none" strike="noStrike">
                <a:solidFill>
                  <a:srgbClr val="FFD5C2"/>
                </a:solidFill>
                <a:latin typeface="Montserrat"/>
                <a:ea typeface="Montserrat"/>
                <a:cs typeface="Montserrat"/>
                <a:sym typeface="Montserrat"/>
              </a:rPr>
              <a:t>  / cycle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00016" y="297180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Filmed, edited, and posted for you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00016" y="3566160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30 short-form videos per cycle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Char char="✓"/>
            </a:pPr>
            <a:r>
              <a:rPr lang="en-U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filming day — crew batch-films all 30 videos in one day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post everything to all three platforms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Scripting &amp; content ideas with our creative team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 filming day anytime: +$400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11312" y="1600200"/>
            <a:ext cx="3520440" cy="4800600"/>
          </a:xfrm>
          <a:prstGeom prst="roundRect">
            <a:avLst>
              <a:gd fmla="val 3117" name="adj"/>
            </a:avLst>
          </a:prstGeom>
          <a:solidFill>
            <a:srgbClr val="F2F2F2"/>
          </a:solidFill>
          <a:ln>
            <a:noFill/>
          </a:ln>
          <a:effectLst>
            <a:outerShdw blurRad="101600" rotWithShape="0" algn="bl" dir="5400000" dist="254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485632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6325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46325"/>
                </a:solidFill>
                <a:latin typeface="Montserrat"/>
                <a:ea typeface="Montserrat"/>
                <a:cs typeface="Montserrat"/>
                <a:sym typeface="Montserrat"/>
              </a:rPr>
              <a:t>PREMIUM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485632" y="228600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$3,500</a:t>
            </a:r>
            <a:r>
              <a:rPr b="0" i="0" lang="en-US" sz="13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 / cycle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485632" y="297180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"/>
              <a:buFont typeface="Montserrat"/>
              <a:buNone/>
            </a:pPr>
            <a:r>
              <a:rPr b="0" i="1" lang="en-US" sz="125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Own YouTube, not just short-form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485632" y="3566160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Everything in Growth, plus: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4 long-form YouTube videos per cycle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lang="en-US" sz="125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6 </a:t>
            </a: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filming days per cycle for long-form content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ontserrat"/>
              <a:buChar char="✓"/>
            </a:pPr>
            <a:r>
              <a:rPr b="0" i="0" lang="en-US" sz="125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Priority status — front of the production queue, faster turnaround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orange_transparent.png"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292608"/>
            <a:ext cx="914400" cy="3611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Plan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3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{E7C761B4-0E33-4C2B-ADEE-64BA2F20D7FC}</a:tableStyleId>
              </a:tblPr>
              <a:tblGrid>
                <a:gridCol w="3776475"/>
                <a:gridCol w="2377450"/>
                <a:gridCol w="2377450"/>
                <a:gridCol w="23774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6325"/>
                        </a:buClr>
                        <a:buSzPts val="1300"/>
                        <a:buFont typeface="Montserra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632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STARTER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ontserra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GROWTH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63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6325"/>
                        </a:buClr>
                        <a:buSzPts val="1300"/>
                        <a:buFont typeface="Montserra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632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PREMIUM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per 4-week cycle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$1,500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$3,500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Short-form videos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Long-form YouTube videos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Filming days per cycle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(batch day)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Posting to platforms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Scripting &amp; content ideas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Priority turnaround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Website bonus (6-mo contract)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✓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18-month bonus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GBP makeover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11111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Website + GBP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50"/>
                        <a:buFont typeface="Montserrat"/>
                        <a:buNone/>
                      </a:pPr>
                      <a:r>
                        <a:rPr lang="en-US" sz="1250" u="none" cap="none" strike="noStrike">
                          <a:solidFill>
                            <a:srgbClr val="3333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Website + GBP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6575" marB="3657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ontserrat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GBP = Google Business Profile. Bonuses require the contract lengths shown — details on the next slide.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orange_transparent.png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292608"/>
            <a:ext cx="914400" cy="36118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Contract Bonuses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Commit longer, get more — free with your plan.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40080" y="1554480"/>
            <a:ext cx="5440680" cy="2651760"/>
          </a:xfrm>
          <a:prstGeom prst="roundRect">
            <a:avLst>
              <a:gd fmla="val 4138" name="adj"/>
            </a:avLst>
          </a:prstGeom>
          <a:solidFill>
            <a:srgbClr val="F2F2F2"/>
          </a:solidFill>
          <a:ln>
            <a:noFill/>
          </a:ln>
          <a:effectLst>
            <a:outerShdw blurRad="88900" rotWithShape="0" algn="bl" dir="5400000" dist="25400">
              <a:srgbClr val="BBBBB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424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1783080" y="19019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6+ Month Commitment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783080" y="22677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6325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46325"/>
                </a:solidFill>
                <a:latin typeface="Montserrat"/>
                <a:ea typeface="Montserrat"/>
                <a:cs typeface="Montserrat"/>
                <a:sym typeface="Montserrat"/>
              </a:rPr>
              <a:t>Growth &amp; Premium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60120" y="2743200"/>
            <a:ext cx="4800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Free basic website — a 5-page template site (Home, About, Services, Gallery, Contact), built and launched by our team.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0" y="1554480"/>
            <a:ext cx="5440680" cy="2651760"/>
          </a:xfrm>
          <a:prstGeom prst="roundRect">
            <a:avLst>
              <a:gd fmla="val 4138" name="adj"/>
            </a:avLst>
          </a:prstGeom>
          <a:solidFill>
            <a:srgbClr val="F2F2F2"/>
          </a:solidFill>
          <a:ln>
            <a:noFill/>
          </a:ln>
          <a:effectLst>
            <a:outerShdw blurRad="88900" rotWithShape="0" algn="bl" dir="5400000" dist="25400">
              <a:srgbClr val="BBBBB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720840" y="1874520"/>
            <a:ext cx="640080" cy="64008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144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7543800" y="19019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b="1" i="0" lang="en-US" sz="18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-Month Commitment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543800" y="22677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6325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46325"/>
                </a:solidFill>
                <a:latin typeface="Montserrat"/>
                <a:ea typeface="Montserrat"/>
                <a:cs typeface="Montserrat"/>
                <a:sym typeface="Montserrat"/>
              </a:rPr>
              <a:t>All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720840" y="2743200"/>
            <a:ext cx="4800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Complete Google Business Profile makeover: new photos, updated descriptions, categories, and full optimization. Growth &amp; Premium also keep the free website.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40080" y="4434840"/>
            <a:ext cx="11201400" cy="1965960"/>
          </a:xfrm>
          <a:prstGeom prst="roundRect">
            <a:avLst>
              <a:gd fmla="val 5581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960120" y="4663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42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7B42"/>
                </a:solidFill>
                <a:latin typeface="Montserrat"/>
                <a:ea typeface="Montserrat"/>
                <a:cs typeface="Montserrat"/>
                <a:sym typeface="Montserrat"/>
              </a:rPr>
              <a:t>WEBSITE SCOPE — SO THERE ARE NO SURPRISES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60120" y="5029200"/>
            <a:ext cx="10515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Includes: </a:t>
            </a:r>
            <a:r>
              <a:rPr b="0" i="0" lang="en-US" sz="12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5-page template site, built &amp; launched by our team, with one round of revisions.  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 included: </a:t>
            </a:r>
            <a:r>
              <a:rPr b="0" i="0" lang="en-US" sz="12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e-commerce, custom development, copywriting beyond your provided materials, or ongoing maintenance. Hosting &amp; domain are billed to you (typically $15–30/month through standard providers).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orange_transparent.png" id="85" name="Google Shape;85;g3f5b04a6d2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292608"/>
            <a:ext cx="914400" cy="3611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f5b04a6d2b_0_0"/>
          <p:cNvSpPr/>
          <p:nvPr/>
        </p:nvSpPr>
        <p:spPr>
          <a:xfrm>
            <a:off x="640080" y="32004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Contract Bonuses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5b04a6d2b_0_0"/>
          <p:cNvSpPr/>
          <p:nvPr/>
        </p:nvSpPr>
        <p:spPr>
          <a:xfrm>
            <a:off x="640080" y="96012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Commit longer, get more — free with your plan.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5b04a6d2b_0_0"/>
          <p:cNvSpPr/>
          <p:nvPr/>
        </p:nvSpPr>
        <p:spPr>
          <a:xfrm>
            <a:off x="640080" y="1554480"/>
            <a:ext cx="5440800" cy="2651700"/>
          </a:xfrm>
          <a:prstGeom prst="roundRect">
            <a:avLst>
              <a:gd fmla="val 4138" name="adj"/>
            </a:avLst>
          </a:prstGeom>
          <a:solidFill>
            <a:srgbClr val="F2F2F2"/>
          </a:solidFill>
          <a:ln>
            <a:noFill/>
          </a:ln>
          <a:effectLst>
            <a:outerShdw blurRad="88900" rotWithShape="0" algn="bl" dir="5400000" dist="25400">
              <a:srgbClr val="BBBBBB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5b04a6d2b_0_0"/>
          <p:cNvSpPr/>
          <p:nvPr/>
        </p:nvSpPr>
        <p:spPr>
          <a:xfrm>
            <a:off x="960120" y="1874520"/>
            <a:ext cx="640200" cy="64020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g3f5b04a6d2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424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f5b04a6d2b_0_0"/>
          <p:cNvSpPr/>
          <p:nvPr/>
        </p:nvSpPr>
        <p:spPr>
          <a:xfrm>
            <a:off x="1783080" y="1901952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6+ Month Commitment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5b04a6d2b_0_0"/>
          <p:cNvSpPr/>
          <p:nvPr/>
        </p:nvSpPr>
        <p:spPr>
          <a:xfrm>
            <a:off x="1783080" y="2267712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6325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46325"/>
                </a:solidFill>
                <a:latin typeface="Montserrat"/>
                <a:ea typeface="Montserrat"/>
                <a:cs typeface="Montserrat"/>
                <a:sym typeface="Montserrat"/>
              </a:rPr>
              <a:t>Growth &amp; Premium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5b04a6d2b_0_0"/>
          <p:cNvSpPr/>
          <p:nvPr/>
        </p:nvSpPr>
        <p:spPr>
          <a:xfrm>
            <a:off x="960120" y="2743200"/>
            <a:ext cx="4800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Free basic website — a 5-page template site (Home, About, Services, Gallery, Contact), built and launched by our team.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5b04a6d2b_0_0"/>
          <p:cNvSpPr/>
          <p:nvPr/>
        </p:nvSpPr>
        <p:spPr>
          <a:xfrm>
            <a:off x="6400800" y="1554480"/>
            <a:ext cx="5440800" cy="2651700"/>
          </a:xfrm>
          <a:prstGeom prst="roundRect">
            <a:avLst>
              <a:gd fmla="val 4138" name="adj"/>
            </a:avLst>
          </a:prstGeom>
          <a:solidFill>
            <a:srgbClr val="F2F2F2"/>
          </a:solidFill>
          <a:ln>
            <a:noFill/>
          </a:ln>
          <a:effectLst>
            <a:outerShdw blurRad="88900" rotWithShape="0" algn="bl" dir="5400000" dist="25400">
              <a:srgbClr val="BBBBBB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5b04a6d2b_0_0"/>
          <p:cNvSpPr/>
          <p:nvPr/>
        </p:nvSpPr>
        <p:spPr>
          <a:xfrm>
            <a:off x="6720840" y="1874520"/>
            <a:ext cx="640200" cy="64020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g3f5b04a6d2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144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5b04a6d2b_0_0"/>
          <p:cNvSpPr/>
          <p:nvPr/>
        </p:nvSpPr>
        <p:spPr>
          <a:xfrm>
            <a:off x="7543800" y="1901952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b="1" i="0" lang="en-US" sz="18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-Month Commitment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5b04a6d2b_0_0"/>
          <p:cNvSpPr/>
          <p:nvPr/>
        </p:nvSpPr>
        <p:spPr>
          <a:xfrm>
            <a:off x="7543800" y="2267712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6325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46325"/>
                </a:solidFill>
                <a:latin typeface="Montserrat"/>
                <a:ea typeface="Montserrat"/>
                <a:cs typeface="Montserrat"/>
                <a:sym typeface="Montserrat"/>
              </a:rPr>
              <a:t>All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5b04a6d2b_0_0"/>
          <p:cNvSpPr/>
          <p:nvPr/>
        </p:nvSpPr>
        <p:spPr>
          <a:xfrm>
            <a:off x="6720840" y="2743200"/>
            <a:ext cx="4800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Complete Google Business Profile makeover: new photos, updated descriptions, categories, and full optimization. Growth &amp; Premium also keep the free website.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5b04a6d2b_0_0"/>
          <p:cNvSpPr/>
          <p:nvPr/>
        </p:nvSpPr>
        <p:spPr>
          <a:xfrm>
            <a:off x="640075" y="4434825"/>
            <a:ext cx="11201700" cy="2082300"/>
          </a:xfrm>
          <a:prstGeom prst="roundRect">
            <a:avLst>
              <a:gd fmla="val 4138" name="adj"/>
            </a:avLst>
          </a:prstGeom>
          <a:solidFill>
            <a:srgbClr val="F2F2F2"/>
          </a:solidFill>
          <a:ln>
            <a:noFill/>
          </a:ln>
          <a:effectLst>
            <a:outerShdw blurRad="88900" rotWithShape="0" algn="bl" dir="5400000" dist="25400">
              <a:srgbClr val="BBBBBB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5b04a6d2b_0_0"/>
          <p:cNvSpPr/>
          <p:nvPr/>
        </p:nvSpPr>
        <p:spPr>
          <a:xfrm>
            <a:off x="813695" y="4578020"/>
            <a:ext cx="640200" cy="64020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g3f5b04a6d2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999" y="47243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f5b04a6d2b_0_0"/>
          <p:cNvSpPr/>
          <p:nvPr/>
        </p:nvSpPr>
        <p:spPr>
          <a:xfrm>
            <a:off x="1532155" y="4715277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3 </a:t>
            </a:r>
            <a:r>
              <a:rPr b="1" i="0" lang="en-US" sz="18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Month Commitment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5b04a6d2b_0_0"/>
          <p:cNvSpPr/>
          <p:nvPr/>
        </p:nvSpPr>
        <p:spPr>
          <a:xfrm>
            <a:off x="1600325" y="5131200"/>
            <a:ext cx="5943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Montserrat"/>
              <a:buNone/>
            </a:pPr>
            <a:r>
              <a:rPr lang="en-US" sz="13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An extra month of marketing based off your chosen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orange_transparent.png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292608"/>
            <a:ext cx="914400" cy="36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How Billing Works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Simple and predictable — please read this part before signing.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40080" y="1691640"/>
            <a:ext cx="7315200" cy="1325880"/>
          </a:xfrm>
          <a:prstGeom prst="roundRect">
            <a:avLst>
              <a:gd fmla="val 827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914400" y="2034540"/>
            <a:ext cx="640080" cy="64008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704" y="21808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737360" y="1856232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Billed every 4 weeks — not monthly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737360" y="2221992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That's 13 payments per year, so occasionally two payments land in the same calendar month. This is normal and expected.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40080" y="3246120"/>
            <a:ext cx="7315200" cy="1325880"/>
          </a:xfrm>
          <a:prstGeom prst="roundRect">
            <a:avLst>
              <a:gd fmla="val 827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14400" y="3589020"/>
            <a:ext cx="640080" cy="64008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704" y="37353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737360" y="3410712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Prefer smaller payments? Split 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737360" y="3776472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Any plan can be split into payments every 2 weeks at no extra cost — e.g., Growth becomes 2 × $750.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080" y="4800600"/>
            <a:ext cx="7315200" cy="1325880"/>
          </a:xfrm>
          <a:prstGeom prst="roundRect">
            <a:avLst>
              <a:gd fmla="val 827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14400" y="5143500"/>
            <a:ext cx="640080" cy="640080"/>
          </a:xfrm>
          <a:prstGeom prst="ellipse">
            <a:avLst/>
          </a:prstGeom>
          <a:solidFill>
            <a:srgbClr val="FFD5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0704" y="52898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737360" y="4965192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Your billing date never changes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737360" y="5330952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It's always exactly 4 weeks (or 2 weeks) from the last charge, so you always know when the next payment is coming.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229600" y="1691640"/>
            <a:ext cx="3337560" cy="4434840"/>
          </a:xfrm>
          <a:prstGeom prst="roundRect">
            <a:avLst>
              <a:gd fmla="val 3288" name="adj"/>
            </a:avLst>
          </a:prstGeom>
          <a:solidFill>
            <a:srgbClr val="F46325"/>
          </a:solidFill>
          <a:ln>
            <a:noFill/>
          </a:ln>
          <a:effectLst>
            <a:outerShdw blurRad="101600" rotWithShape="0" algn="bl" dir="5400000" dist="25400">
              <a:srgbClr val="AAAAAA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229600" y="2286000"/>
            <a:ext cx="3337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Montserrat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29600" y="352044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payments per year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549640" y="416052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D5C2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FFD5C2"/>
                </a:solidFill>
                <a:latin typeface="Montserrat"/>
                <a:ea typeface="Montserrat"/>
                <a:cs typeface="Montserrat"/>
                <a:sym typeface="Montserrat"/>
              </a:rPr>
              <a:t>52 weeks ÷ 4-week cycles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D5C2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FFD5C2"/>
                </a:solidFill>
                <a:latin typeface="Montserrat"/>
                <a:ea typeface="Montserrat"/>
                <a:cs typeface="Montserrat"/>
                <a:sym typeface="Montserrat"/>
              </a:rPr>
              <a:t>= 13 billing cycles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549640" y="512064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0" i="1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Example: Growth split option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0" i="1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 × $750 every 2 weeks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9326880" y="-2377440"/>
            <a:ext cx="5943600" cy="5943600"/>
          </a:xfrm>
          <a:prstGeom prst="ellipse">
            <a:avLst/>
          </a:prstGeom>
          <a:solidFill>
            <a:srgbClr val="F4632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white_transparent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1645920" cy="65105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640080" y="1600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Promise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" y="24231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We guarantee </a:t>
            </a:r>
            <a:r>
              <a:rPr b="1" i="0" lang="en-US" sz="1800" u="none" cap="none" strike="noStrike">
                <a:solidFill>
                  <a:srgbClr val="FF7B42"/>
                </a:solidFill>
                <a:latin typeface="Montserrat"/>
                <a:ea typeface="Montserrat"/>
                <a:cs typeface="Montserrat"/>
                <a:sym typeface="Montserrat"/>
              </a:rPr>
              <a:t>consistent, professional content delivered on schedule.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40080" y="292608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We don't guarantee a specific number of leads or sales — no honest agency can.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3794760"/>
            <a:ext cx="3520440" cy="2148840"/>
          </a:xfrm>
          <a:prstGeom prst="roundRect">
            <a:avLst>
              <a:gd fmla="val 5106" name="adj"/>
            </a:avLst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F463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988" y="42016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914400" y="47548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On-schedule delivery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14400" y="509320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Filmed, edited, and delivered every cycle — no chasing, no gaps.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425696" y="3794760"/>
            <a:ext cx="3520440" cy="2148840"/>
          </a:xfrm>
          <a:prstGeom prst="roundRect">
            <a:avLst>
              <a:gd fmla="val 5106" name="adj"/>
            </a:avLst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700016" y="4069080"/>
            <a:ext cx="566928" cy="566928"/>
          </a:xfrm>
          <a:prstGeom prst="ellipse">
            <a:avLst/>
          </a:prstGeom>
          <a:solidFill>
            <a:srgbClr val="F463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2604" y="42016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4700016" y="47548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Reports every cycle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00016" y="509320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View counts, engagement, and reach — you always know what your investment is producing.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211312" y="3794760"/>
            <a:ext cx="3520440" cy="2148840"/>
          </a:xfrm>
          <a:prstGeom prst="roundRect">
            <a:avLst>
              <a:gd fmla="val 5106" name="adj"/>
            </a:avLst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8485632" y="4069080"/>
            <a:ext cx="566928" cy="566928"/>
          </a:xfrm>
          <a:prstGeom prst="ellipse">
            <a:avLst/>
          </a:prstGeom>
          <a:solidFill>
            <a:srgbClr val="F463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8220" y="42016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8485632" y="47548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transparency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485632" y="509320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Clear pricing, clear scope, clear billing. No surprises, ever.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42"/>
              </a:buClr>
              <a:buSzPts val="1300"/>
              <a:buFont typeface="Montserrat"/>
              <a:buNone/>
            </a:pPr>
            <a:r>
              <a:rPr b="0" i="1" lang="en-US" sz="1300" u="none" cap="none" strike="noStrike">
                <a:solidFill>
                  <a:srgbClr val="FF7B42"/>
                </a:solidFill>
                <a:latin typeface="Montserrat"/>
                <a:ea typeface="Montserrat"/>
                <a:cs typeface="Montserrat"/>
                <a:sym typeface="Montserrat"/>
              </a:rPr>
              <a:t>Ready to start? Let's pick your plan.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2026-07-24T15:12:29Z</dcterms:created>
  <dc:creator>PptxGenJS</dc:creator>
</cp:coreProperties>
</file>